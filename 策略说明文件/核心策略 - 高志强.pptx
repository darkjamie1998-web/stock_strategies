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3" r:id="rId4"/>
  </p:sldMasterIdLst>
  <p:notesMasterIdLst>
    <p:notesMasterId r:id="rId6"/>
  </p:notesMasterIdLst>
  <p:sldIdLst>
    <p:sldId id="271" r:id="rId5"/>
    <p:sldId id="277" r:id="rId7"/>
    <p:sldId id="278" r:id="rId8"/>
    <p:sldId id="279" r:id="rId9"/>
    <p:sldId id="272" r:id="rId10"/>
    <p:sldId id="273" r:id="rId11"/>
    <p:sldId id="274" r:id="rId12"/>
    <p:sldId id="275" r:id="rId13"/>
    <p:sldId id="276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彭国强" initials="" lastIdx="3" clrIdx="0"/>
  <p:cmAuthor id="7" name="Tiffa" initials="T" lastIdx="1" clrIdx="6"/>
  <p:cmAuthor id="1" name="谢萍" initials="谢萍" lastIdx="0" clrIdx="0"/>
  <p:cmAuthor id="8" name="赵超(004631)" initials="赵超(004631)" lastIdx="1" clrIdx="7"/>
  <p:cmAuthor id="2" name="作者" initials="A" lastIdx="0" clrIdx="1"/>
  <p:cmAuthor id="3" name="huang" initials="h" lastIdx="1" clrIdx="2"/>
  <p:cmAuthor id="10" name="lijing" initials="l" lastIdx="11" clrIdx="9"/>
  <p:cmAuthor id="4" name="HTSC-wgs" initials="H" lastIdx="2" clrIdx="3"/>
  <p:cmAuthor id="11" name="019847" initials="0" lastIdx="1" clrIdx="10"/>
  <p:cmAuthor id="5" name="程吟" initials="程吟" lastIdx="16" clrIdx="4"/>
  <p:cmAuthor id="12" name="xiaoaitongxue" initials="x" lastIdx="1" clrIdx="11"/>
  <p:cmAuthor id="6" name="zhangqingge" initials="z" lastIdx="1" clrIdx="5"/>
  <p:cmAuthor id="9" name="未知用户1" initials="未知用户1" lastIdx="80" clrIdx="7"/>
  <p:cmAuthor id="13" name="孙晶晶" initials="孙晶晶" lastIdx="11" clrIdx="13"/>
  <p:cmAuthor id="14" name="一凡" initials="一凡" lastIdx="1" clrIdx="14"/>
  <p:cmAuthor id="15" name="276431207@qq.com" initials="" lastIdx="1" clrIdx="15"/>
  <p:cmAuthor id="16" name="zhuanglu" initials="z" lastIdx="1" clrIdx="15"/>
  <p:cmAuthor id="17" name="admin" initials="a" lastIdx="2" clrIdx="16"/>
  <p:cmAuthor id="18" name="刘兴" initials="刘兴" lastIdx="1" clrIdx="17"/>
  <p:cmAuthor id="19" name="poppy" initials="p" lastIdx="1" clrIdx="18"/>
  <p:cmAuthor id="22" name="Cheng, Wenzhong" initials="CW" lastIdx="13" clrIdx="21"/>
  <p:cmAuthor id="23" name="王 翊丞" initials="王" lastIdx="2" clrIdx="22"/>
  <p:cmAuthor id="24" name="HTLH" initials="H" lastIdx="7" clrIdx="23"/>
  <p:cmAuthor id="25" name="022529" initials="0" lastIdx="1" clrIdx="24"/>
  <p:cmAuthor id="26" name="014111" initials="0" lastIdx="1" clrIdx="25"/>
  <p:cmAuthor id="20" name="cai jing" initials="cj" lastIdx="1" clrIdx="19"/>
  <p:cmAuthor id="21" name="黄 漾" initials="黄" lastIdx="9" clrIdx="20"/>
  <p:cmAuthor id="27" name="王梦艺" initials="王梦艺" lastIdx="1" clrIdx="26"/>
  <p:cmAuthor id="29" name="侯雅洁" initials="侯雅洁" lastIdx="1" clrIdx="28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8" Type="http://schemas.openxmlformats.org/officeDocument/2006/relationships/commentAuthors" Target="commentAuthors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  <a:endParaRPr lang="en-US" noProof="1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/>
          <a:p>
            <a:pPr algn="r">
              <a:buChar char="•"/>
            </a:pPr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</a:fld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noProof="1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/>
          <a:p>
            <a:pPr algn="r">
              <a:buChar char="•"/>
            </a:pPr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</a:fld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/>
          <a:p>
            <a:pPr algn="r">
              <a:buChar char="•"/>
            </a:pPr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</a:fld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noProof="1"/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/>
          <a:p>
            <a:pPr algn="r">
              <a:buChar char="•"/>
            </a:pPr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</a:fld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noProof="1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/>
          <a:p>
            <a:pPr algn="r">
              <a:buChar char="•"/>
            </a:pPr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</a:fld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/>
          <a:p>
            <a:pPr algn="r">
              <a:buChar char="•"/>
            </a:pPr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</a:fld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/>
          <a:p>
            <a:pPr algn="r">
              <a:buChar char="•"/>
            </a:pPr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</a:fld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/>
          <a:p>
            <a:pPr algn="r">
              <a:buChar char="•"/>
            </a:pPr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</a:fld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单击图标添加图片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/>
          <a:p>
            <a:pPr algn="r">
              <a:buChar char="•"/>
            </a:pPr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</a:fld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noProof="1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/>
          <a:p>
            <a:pPr algn="r">
              <a:buChar char="•"/>
            </a:pPr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</a:fld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noProof="1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/>
          <a:p>
            <a:pPr algn="r">
              <a:buChar char="•"/>
            </a:pPr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</a:fld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节标题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237034" y="-783467"/>
            <a:ext cx="14571060" cy="6932870"/>
          </a:xfrm>
          <a:prstGeom prst="rect">
            <a:avLst/>
          </a:prstGeom>
        </p:spPr>
      </p:pic>
      <p:sp>
        <p:nvSpPr>
          <p:cNvPr id="8" name="矩形 3"/>
          <p:cNvSpPr/>
          <p:nvPr userDrawn="1"/>
        </p:nvSpPr>
        <p:spPr>
          <a:xfrm>
            <a:off x="2542" y="0"/>
            <a:ext cx="12189460" cy="76200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9" name="文本框 8"/>
          <p:cNvSpPr txBox="1"/>
          <p:nvPr userDrawn="1"/>
        </p:nvSpPr>
        <p:spPr>
          <a:xfrm>
            <a:off x="5509109" y="214331"/>
            <a:ext cx="6383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*个股</a:t>
            </a:r>
            <a:r>
              <a:rPr kumimoji="1"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/</a:t>
            </a:r>
            <a:r>
              <a:rPr kumimoji="1"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基金信息仅作为示例，不构成任何投资建议。</a:t>
            </a:r>
            <a:endParaRPr kumimoji="1" lang="en-US" altLang="zh-CN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kumimoji="1"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市场有风险，投资需谨慎。</a:t>
            </a:r>
            <a:endParaRPr kumimoji="1" lang="zh-CN" alt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0" name="任意形状 9"/>
          <p:cNvSpPr/>
          <p:nvPr userDrawn="1"/>
        </p:nvSpPr>
        <p:spPr>
          <a:xfrm>
            <a:off x="0" y="3362946"/>
            <a:ext cx="12192000" cy="3081647"/>
          </a:xfrm>
          <a:custGeom>
            <a:avLst/>
            <a:gdLst>
              <a:gd name="connsiteX0" fmla="*/ 0 w 12089080"/>
              <a:gd name="connsiteY0" fmla="*/ 4108862 h 4108862"/>
              <a:gd name="connsiteX1" fmla="*/ 1425039 w 12089080"/>
              <a:gd name="connsiteY1" fmla="*/ 3004457 h 4108862"/>
              <a:gd name="connsiteX2" fmla="*/ 2470068 w 12089080"/>
              <a:gd name="connsiteY2" fmla="*/ 3776353 h 4108862"/>
              <a:gd name="connsiteX3" fmla="*/ 4286992 w 12089080"/>
              <a:gd name="connsiteY3" fmla="*/ 2517569 h 4108862"/>
              <a:gd name="connsiteX4" fmla="*/ 6020790 w 12089080"/>
              <a:gd name="connsiteY4" fmla="*/ 3230088 h 4108862"/>
              <a:gd name="connsiteX5" fmla="*/ 8015844 w 12089080"/>
              <a:gd name="connsiteY5" fmla="*/ 2185059 h 4108862"/>
              <a:gd name="connsiteX6" fmla="*/ 8502732 w 12089080"/>
              <a:gd name="connsiteY6" fmla="*/ 3218213 h 4108862"/>
              <a:gd name="connsiteX7" fmla="*/ 10022774 w 12089080"/>
              <a:gd name="connsiteY7" fmla="*/ 1151906 h 4108862"/>
              <a:gd name="connsiteX8" fmla="*/ 10652166 w 12089080"/>
              <a:gd name="connsiteY8" fmla="*/ 1745672 h 4108862"/>
              <a:gd name="connsiteX9" fmla="*/ 12089080 w 12089080"/>
              <a:gd name="connsiteY9" fmla="*/ 0 h 41088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089080" h="4108862">
                <a:moveTo>
                  <a:pt x="0" y="4108862"/>
                </a:moveTo>
                <a:lnTo>
                  <a:pt x="1425039" y="3004457"/>
                </a:lnTo>
                <a:lnTo>
                  <a:pt x="2470068" y="3776353"/>
                </a:lnTo>
                <a:lnTo>
                  <a:pt x="4286992" y="2517569"/>
                </a:lnTo>
                <a:lnTo>
                  <a:pt x="6020790" y="3230088"/>
                </a:lnTo>
                <a:lnTo>
                  <a:pt x="8015844" y="2185059"/>
                </a:lnTo>
                <a:lnTo>
                  <a:pt x="8502732" y="3218213"/>
                </a:lnTo>
                <a:lnTo>
                  <a:pt x="10022774" y="1151906"/>
                </a:lnTo>
                <a:lnTo>
                  <a:pt x="10652166" y="1745672"/>
                </a:lnTo>
                <a:lnTo>
                  <a:pt x="12089080" y="0"/>
                </a:lnTo>
              </a:path>
            </a:pathLst>
          </a:custGeom>
          <a:noFill/>
          <a:ln w="19050">
            <a:solidFill>
              <a:srgbClr val="FB002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15"/>
          </a:p>
        </p:txBody>
      </p:sp>
      <p:sp>
        <p:nvSpPr>
          <p:cNvPr id="2" name="平行四边形 1"/>
          <p:cNvSpPr/>
          <p:nvPr userDrawn="1"/>
        </p:nvSpPr>
        <p:spPr>
          <a:xfrm>
            <a:off x="299151" y="287429"/>
            <a:ext cx="4689732" cy="438581"/>
          </a:xfrm>
          <a:prstGeom prst="parallelogram">
            <a:avLst/>
          </a:prstGeom>
          <a:solidFill>
            <a:srgbClr val="FB002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15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E349AD9-8FEF-4113-8D13-283E841E9E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EB2885C-00BD-4864-96A0-021BD5636B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E349AD9-8FEF-4113-8D13-283E841E9E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EB2885C-00BD-4864-96A0-021BD5636B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E349AD9-8FEF-4113-8D13-283E841E9E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EB2885C-00BD-4864-96A0-021BD5636B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E349AD9-8FEF-4113-8D13-283E841E9E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EB2885C-00BD-4864-96A0-021BD5636B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E349AD9-8FEF-4113-8D13-283E841E9E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EB2885C-00BD-4864-96A0-021BD5636B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E349AD9-8FEF-4113-8D13-283E841E9E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EB2885C-00BD-4864-96A0-021BD5636B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E349AD9-8FEF-4113-8D13-283E841E9E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EB2885C-00BD-4864-96A0-021BD5636B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E349AD9-8FEF-4113-8D13-283E841E9E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EB2885C-00BD-4864-96A0-021BD5636B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E349AD9-8FEF-4113-8D13-283E841E9E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EB2885C-00BD-4864-96A0-021BD5636B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E349AD9-8FEF-4113-8D13-283E841E9E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EB2885C-00BD-4864-96A0-021BD5636B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E349AD9-8FEF-4113-8D13-283E841E9E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EB2885C-00BD-4864-96A0-021BD5636B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标题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8"/>
          <p:cNvSpPr>
            <a:spLocks noGrp="1"/>
          </p:cNvSpPr>
          <p:nvPr>
            <p:ph type="sldNum" sz="quarter" idx="15"/>
          </p:nvPr>
        </p:nvSpPr>
        <p:spPr>
          <a:xfrm>
            <a:off x="10920535" y="6548438"/>
            <a:ext cx="599951" cy="190222"/>
          </a:xfrm>
          <a:prstGeom prst="rect">
            <a:avLst/>
          </a:prstGeom>
        </p:spPr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0" name="文本占位符 3"/>
          <p:cNvSpPr>
            <a:spLocks noGrp="1"/>
          </p:cNvSpPr>
          <p:nvPr>
            <p:ph type="body" sz="quarter" idx="16" hasCustomPrompt="1"/>
          </p:nvPr>
        </p:nvSpPr>
        <p:spPr>
          <a:xfrm>
            <a:off x="669925" y="6352039"/>
            <a:ext cx="5426075" cy="19331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9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zh-CN" altLang="en-US" dirty="0"/>
              <a:t>备注：统计信息文本</a:t>
            </a:r>
            <a:endParaRPr lang="zh-CN" altLang="en-US" dirty="0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7" hasCustomPrompt="1"/>
          </p:nvPr>
        </p:nvSpPr>
        <p:spPr>
          <a:xfrm>
            <a:off x="669925" y="6548439"/>
            <a:ext cx="5426075" cy="19331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9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zh-CN" altLang="en-US" dirty="0"/>
              <a:t>资料来源：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669924" y="514350"/>
            <a:ext cx="10850563" cy="8223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7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669925" y="145169"/>
            <a:ext cx="8378404" cy="33496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400" b="0">
                <a:solidFill>
                  <a:schemeClr val="accent4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zh-CN" altLang="en-US" dirty="0"/>
              <a:t>章节标题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118" y="295108"/>
            <a:ext cx="10895803" cy="571500"/>
          </a:xfrm>
          <a:noFill/>
          <a:ln w="9525">
            <a:noFill/>
            <a:miter lim="800000"/>
          </a:ln>
          <a:effectLst/>
        </p:spPr>
        <p:txBody>
          <a:bodyPr vert="horz" wrap="square" lIns="0" tIns="0" rIns="0" bIns="0" numCol="1" anchor="b" anchorCtr="0" compatLnSpc="1"/>
          <a:lstStyle>
            <a:lvl1pPr>
              <a:defRPr lang="en-US" dirty="0"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11194063" y="6495643"/>
            <a:ext cx="650090" cy="153501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US" sz="995" b="1" kern="12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A9D7A25-6311-4247-9982-DBE272641B7D}" type="slidenum"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</a:fld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panose="020B0604020202020204" pitchFamily="34" charset="0"/>
              <a:ea typeface="华文楷体" panose="02010600040101010101" pitchFamily="2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6"/>
          <p:cNvGrpSpPr/>
          <p:nvPr userDrawn="1"/>
        </p:nvGrpSpPr>
        <p:grpSpPr bwMode="auto">
          <a:xfrm>
            <a:off x="492125" y="382588"/>
            <a:ext cx="11323638" cy="671512"/>
            <a:chOff x="492784" y="382587"/>
            <a:chExt cx="11322700" cy="671358"/>
          </a:xfrm>
        </p:grpSpPr>
        <p:grpSp>
          <p:nvGrpSpPr>
            <p:cNvPr id="3" name="组合 64"/>
            <p:cNvGrpSpPr/>
            <p:nvPr userDrawn="1"/>
          </p:nvGrpSpPr>
          <p:grpSpPr bwMode="auto">
            <a:xfrm>
              <a:off x="492784" y="967492"/>
              <a:ext cx="11268910" cy="86453"/>
              <a:chOff x="815056" y="834820"/>
              <a:chExt cx="10704751" cy="48379"/>
            </a:xfrm>
          </p:grpSpPr>
          <p:sp>
            <p:nvSpPr>
              <p:cNvPr id="5" name="矩形 4"/>
              <p:cNvSpPr/>
              <p:nvPr/>
            </p:nvSpPr>
            <p:spPr>
              <a:xfrm>
                <a:off x="815056" y="835238"/>
                <a:ext cx="928866" cy="47961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dirty="0">
                  <a:solidFill>
                    <a:prstClr val="white"/>
                  </a:solidFill>
                </a:endParaRPr>
              </a:p>
            </p:txBody>
          </p:sp>
          <p:cxnSp>
            <p:nvCxnSpPr>
              <p:cNvPr id="6" name="直接连接符 5"/>
              <p:cNvCxnSpPr/>
              <p:nvPr/>
            </p:nvCxnSpPr>
            <p:spPr>
              <a:xfrm>
                <a:off x="1707733" y="876094"/>
                <a:ext cx="9811903" cy="0"/>
              </a:xfrm>
              <a:prstGeom prst="line">
                <a:avLst/>
              </a:prstGeom>
              <a:ln w="158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4" name="图片 38"/>
            <p:cNvPicPr>
              <a:picLocks noChangeAspect="1" noChangeArrowheads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801072" y="382587"/>
              <a:ext cx="1014412" cy="571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7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*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4" Type="http://schemas.openxmlformats.org/officeDocument/2006/relationships/theme" Target="../theme/theme2.xml"/><Relationship Id="rId13" Type="http://schemas.openxmlformats.org/officeDocument/2006/relationships/image" Target="../media/image2.png"/><Relationship Id="rId12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2.xml"/><Relationship Id="rId8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0.xml"/><Relationship Id="rId6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5.xml"/><Relationship Id="rId16" Type="http://schemas.openxmlformats.org/officeDocument/2006/relationships/theme" Target="../theme/theme3.xml"/><Relationship Id="rId15" Type="http://schemas.openxmlformats.org/officeDocument/2006/relationships/image" Target="../media/image4.png"/><Relationship Id="rId14" Type="http://schemas.openxmlformats.org/officeDocument/2006/relationships/slideLayout" Target="../slideLayouts/slideLayout37.xml"/><Relationship Id="rId13" Type="http://schemas.openxmlformats.org/officeDocument/2006/relationships/slideLayout" Target="../slideLayouts/slideLayout36.xml"/><Relationship Id="rId12" Type="http://schemas.openxmlformats.org/officeDocument/2006/relationships/slideLayout" Target="../slideLayouts/slideLayout35.xml"/><Relationship Id="rId11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3.xml"/><Relationship Id="rId1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en-US" dirty="0"/>
              <a:t>单击此处编辑母版标题样式</a:t>
            </a:r>
            <a:endParaRPr lang="en-US" altLang="zh-CN" dirty="0"/>
          </a:p>
        </p:txBody>
      </p:sp>
      <p:sp>
        <p:nvSpPr>
          <p:cNvPr id="90115" name="Text Placeholder 2"/>
          <p:cNvSpPr>
            <a:spLocks noGrp="1"/>
          </p:cNvSpPr>
          <p:nvPr>
            <p:ph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0" hangingPunct="0">
              <a:buFontTx/>
              <a:buNone/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0" hangingPunct="0">
              <a:buFontTx/>
              <a:buNone/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  <a:ea typeface="宋体" panose="02010600030101010101" pitchFamily="2" charset="-122"/>
              </a:defRPr>
            </a:lvl1pPr>
          </a:lstStyle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ransition>
    <p:fade/>
  </p:transition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4799"/>
            <a:ext cx="12192000" cy="62255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  <p:sldLayoutId id="2147483687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8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5.xml"/><Relationship Id="rId1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5.xml"/><Relationship Id="rId1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5.xml"/><Relationship Id="rId1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5.xml"/><Relationship Id="rId1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5.xml"/><Relationship Id="rId1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/>
        </p:nvCxnSpPr>
        <p:spPr>
          <a:xfrm>
            <a:off x="0" y="693038"/>
            <a:ext cx="121920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等腰三角形 10"/>
          <p:cNvSpPr/>
          <p:nvPr/>
        </p:nvSpPr>
        <p:spPr>
          <a:xfrm rot="16200000" flipH="1" flipV="1">
            <a:off x="266571" y="258286"/>
            <a:ext cx="352693" cy="280018"/>
          </a:xfrm>
          <a:prstGeom prst="triangle">
            <a:avLst/>
          </a:prstGeom>
          <a:gradFill>
            <a:gsLst>
              <a:gs pos="0">
                <a:srgbClr val="E30000"/>
              </a:gs>
              <a:gs pos="100000">
                <a:srgbClr val="760303"/>
              </a:gs>
            </a:gsLst>
            <a:lin scaled="0"/>
          </a:gradFill>
          <a:ln w="285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11" name="TextBox 3"/>
          <p:cNvSpPr txBox="1"/>
          <p:nvPr/>
        </p:nvSpPr>
        <p:spPr>
          <a:xfrm>
            <a:off x="681907" y="106709"/>
            <a:ext cx="60629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社群跟</a:t>
            </a: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盘解读</a:t>
            </a:r>
            <a:endParaRPr lang="zh-CN" altLang="en-US" sz="32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</p:txBody>
      </p:sp>
      <p:pic>
        <p:nvPicPr>
          <p:cNvPr id="10" name="image 105"/>
          <p:cNvPicPr>
            <a:picLocks noChangeAspect="1"/>
          </p:cNvPicPr>
          <p:nvPr/>
        </p:nvPicPr>
        <p:blipFill>
          <a:blip r:embed="rId1"/>
          <a:srcRect t="364" b="364"/>
          <a:stretch>
            <a:fillRect/>
          </a:stretch>
        </p:blipFill>
        <p:spPr>
          <a:xfrm>
            <a:off x="10561955" y="288290"/>
            <a:ext cx="1166495" cy="286385"/>
          </a:xfrm>
          <a:prstGeom prst="rect">
            <a:avLst/>
          </a:prstGeom>
        </p:spPr>
      </p:pic>
      <p:sp>
        <p:nvSpPr>
          <p:cNvPr id="18" name="灯片编号占位符 34"/>
          <p:cNvSpPr>
            <a:spLocks noGrp="1"/>
          </p:cNvSpPr>
          <p:nvPr/>
        </p:nvSpPr>
        <p:spPr>
          <a:xfrm>
            <a:off x="9449118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ysClr val="windowText" lastClr="000000">
                    <a:tint val="75000"/>
                  </a:sys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EEE115F-7823-4208-B7EA-325D443B55B7}" type="slidenum">
              <a:rPr lang="zh-CN" altLang="en-US" b="1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86055" y="6336030"/>
            <a:ext cx="11085195" cy="860425"/>
          </a:xfrm>
          <a:prstGeom prst="rect">
            <a:avLst/>
          </a:prstGeom>
          <a:noFill/>
          <a:ln w="12700" cmpd="sng">
            <a:solidFill>
              <a:srgbClr val="FF0000">
                <a:alpha val="100000"/>
              </a:srgbClr>
            </a:solidFill>
            <a:prstDash val="solid"/>
            <a:miter lim="800000"/>
          </a:ln>
        </p:spPr>
        <p:txBody>
          <a:bodyPr wrap="square" rtlCol="0">
            <a:spAutoFit/>
          </a:bodyPr>
          <a:p>
            <a:endParaRPr lang="zh-CN" altLang="en-US" sz="1000">
              <a:solidFill>
                <a:srgbClr val="FF0000"/>
              </a:solidFill>
              <a:sym typeface="+mn-ea"/>
            </a:endParaRPr>
          </a:p>
          <a:p>
            <a:r>
              <a:rPr lang="en-US" altLang="zh-CN" sz="1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观点具有时效性、局限性，不构成当前建议，请根据自身风险承受能力审慎做出投资决策。市场有风险，投资需谨慎。过往我们提示的行情表现，并不代表所有情况下的市场走势，也不构成对市场行情或相关标的未来表现的任何预测或保证。历史表现不能作为未来投资结果的依据，亦不能确保您在未来投资中获得盈利或保证本金不受损失。在任何情况下，投资者不应单纯依靠本服务所提供的信息取代自身的独立判断，请务必根据自身的风险承受能力、投资目标及财务状况，审慎做出投资决策。</a:t>
            </a:r>
            <a:endParaRPr lang="en-US" altLang="zh-CN" sz="10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zh-CN" altLang="en-US" sz="1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endParaRPr lang="zh-CN" altLang="en-US" sz="10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9730" y="751205"/>
            <a:ext cx="3989705" cy="567372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895" y="847725"/>
            <a:ext cx="4891405" cy="48361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08660" y="168275"/>
            <a:ext cx="69380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24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仓位（仓位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管理）</a:t>
            </a:r>
            <a:endParaRPr lang="zh-CN" altLang="en-US" sz="2400" b="0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</p:txBody>
      </p:sp>
      <p:sp>
        <p:nvSpPr>
          <p:cNvPr id="5" name="等腰三角形 4"/>
          <p:cNvSpPr/>
          <p:nvPr/>
        </p:nvSpPr>
        <p:spPr>
          <a:xfrm rot="16200000" flipH="1" flipV="1">
            <a:off x="300226" y="258286"/>
            <a:ext cx="352693" cy="280018"/>
          </a:xfrm>
          <a:prstGeom prst="triangle">
            <a:avLst/>
          </a:prstGeom>
          <a:gradFill>
            <a:gsLst>
              <a:gs pos="0">
                <a:srgbClr val="E30000"/>
              </a:gs>
              <a:gs pos="100000">
                <a:srgbClr val="760303"/>
              </a:gs>
            </a:gsLst>
            <a:lin scaled="0"/>
          </a:gradFill>
          <a:ln w="285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808345" y="764540"/>
            <a:ext cx="5780405" cy="581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华文中宋" panose="02010600040101010101" charset="-122"/>
              </a:rPr>
              <a:t>1.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华文中宋" panose="02010600040101010101" charset="-122"/>
              </a:rPr>
              <a:t>政策面</a:t>
            </a:r>
            <a:r>
              <a:rPr lang="zh-CN" altLang="en-US" sz="1400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华文中宋" panose="02010600040101010101" charset="-122"/>
              </a:rPr>
              <a:t>：</a:t>
            </a:r>
            <a:r>
              <a:rPr sz="1400" b="0" dirty="0">
                <a:latin typeface="微软雅黑" panose="020B0503020204020204" charset="-122"/>
                <a:ea typeface="微软雅黑" panose="020B0503020204020204" charset="-122"/>
                <a:cs typeface="华文中宋" panose="02010600040101010101" charset="-122"/>
              </a:rPr>
              <a:t>国家政策对股市的支持力度，包括货币政策财政政策以及证券市场的关联政策。比如924起爆点，三箭齐发带动股市单边上行。</a:t>
            </a:r>
            <a:endParaRPr sz="1400" b="0" dirty="0">
              <a:latin typeface="微软雅黑" panose="020B0503020204020204" charset="-122"/>
              <a:ea typeface="微软雅黑" panose="020B0503020204020204" charset="-122"/>
              <a:cs typeface="华文中宋" panose="02010600040101010101" charset="-122"/>
            </a:endParaRPr>
          </a:p>
          <a:p>
            <a:pPr>
              <a:lnSpc>
                <a:spcPct val="140000"/>
              </a:lnSpc>
            </a:pPr>
            <a:endParaRPr sz="1400" b="0" dirty="0">
              <a:latin typeface="微软雅黑" panose="020B0503020204020204" charset="-122"/>
              <a:ea typeface="微软雅黑" panose="020B0503020204020204" charset="-122"/>
              <a:cs typeface="华文中宋" panose="02010600040101010101" charset="-122"/>
            </a:endParaRPr>
          </a:p>
          <a:p>
            <a:pPr algn="l">
              <a:lnSpc>
                <a:spcPct val="140000"/>
              </a:lnSpc>
              <a:spcBef>
                <a:spcPts val="0"/>
              </a:spcBef>
              <a:buClrTx/>
              <a:buSzTx/>
              <a:buFont typeface="Wingdings" panose="05000000000000000000" charset="0"/>
              <a:buNone/>
            </a:pP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华文中宋" panose="02010600040101010101" charset="-122"/>
              </a:rPr>
              <a:t>2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华文中宋" panose="02010600040101010101" charset="-122"/>
              </a:rPr>
              <a:t>.资金面</a:t>
            </a:r>
            <a:r>
              <a:rPr lang="zh-CN" altLang="en-US" sz="1400" b="0" dirty="0">
                <a:latin typeface="微软雅黑" panose="020B0503020204020204" charset="-122"/>
                <a:ea typeface="微软雅黑" panose="020B0503020204020204" charset="-122"/>
                <a:cs typeface="华文中宋" panose="02010600040101010101" charset="-122"/>
              </a:rPr>
              <a:t>：是否存在大量资金流入流出的情况。宏观看货币政策跟1重叠，微观看成交量的变化，比如624成交量来到1.5万亿，那么说明整体行情从资金角度出现反转概率大。反之514大盘缩量上涨3400，我们判断无法持续。</a:t>
            </a:r>
            <a:endParaRPr lang="zh-CN" altLang="en-US" sz="1400" b="0" dirty="0">
              <a:latin typeface="微软雅黑" panose="020B0503020204020204" charset="-122"/>
              <a:ea typeface="微软雅黑" panose="020B0503020204020204" charset="-122"/>
              <a:cs typeface="华文中宋" panose="02010600040101010101" charset="-122"/>
            </a:endParaRPr>
          </a:p>
          <a:p>
            <a:pPr algn="l">
              <a:lnSpc>
                <a:spcPct val="140000"/>
              </a:lnSpc>
              <a:spcBef>
                <a:spcPts val="0"/>
              </a:spcBef>
              <a:buClrTx/>
              <a:buSzTx/>
              <a:buFont typeface="Wingdings" panose="05000000000000000000" charset="0"/>
              <a:buNone/>
            </a:pPr>
            <a:endParaRPr lang="zh-CN" altLang="en-US" sz="1400" b="0" dirty="0">
              <a:latin typeface="微软雅黑" panose="020B0503020204020204" charset="-122"/>
              <a:ea typeface="微软雅黑" panose="020B0503020204020204" charset="-122"/>
              <a:cs typeface="华文中宋" panose="02010600040101010101" charset="-122"/>
              <a:sym typeface="+mn-ea"/>
            </a:endParaRPr>
          </a:p>
          <a:p>
            <a:pPr algn="l">
              <a:lnSpc>
                <a:spcPct val="140000"/>
              </a:lnSpc>
              <a:spcBef>
                <a:spcPts val="0"/>
              </a:spcBef>
              <a:buClrTx/>
              <a:buSzTx/>
              <a:buFont typeface="Wingdings" panose="05000000000000000000" charset="0"/>
              <a:buNone/>
            </a:pP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华文中宋" panose="02010600040101010101" charset="-122"/>
                <a:sym typeface="+mn-ea"/>
              </a:rPr>
              <a:t>3.技术面</a:t>
            </a:r>
            <a:r>
              <a:rPr lang="zh-CN" altLang="en-US" sz="1400" b="0" dirty="0">
                <a:latin typeface="微软雅黑" panose="020B0503020204020204" charset="-122"/>
                <a:ea typeface="微软雅黑" panose="020B0503020204020204" charset="-122"/>
                <a:cs typeface="华文中宋" panose="02010600040101010101" charset="-122"/>
                <a:sym typeface="+mn-ea"/>
              </a:rPr>
              <a:t>：是否站上1020双均线，比如624，就是反转的典型案例，可以从震荡模式切入单边上行模式。</a:t>
            </a:r>
            <a:endParaRPr lang="zh-CN" altLang="en-US" sz="1400" b="0" dirty="0">
              <a:latin typeface="微软雅黑" panose="020B0503020204020204" charset="-122"/>
              <a:ea typeface="微软雅黑" panose="020B0503020204020204" charset="-122"/>
              <a:cs typeface="华文中宋" panose="02010600040101010101" charset="-122"/>
              <a:sym typeface="+mn-ea"/>
            </a:endParaRPr>
          </a:p>
          <a:p>
            <a:pPr algn="l">
              <a:lnSpc>
                <a:spcPct val="140000"/>
              </a:lnSpc>
              <a:spcBef>
                <a:spcPts val="0"/>
              </a:spcBef>
              <a:buClrTx/>
              <a:buSzTx/>
              <a:buFont typeface="Wingdings" panose="05000000000000000000" charset="0"/>
              <a:buNone/>
            </a:pPr>
            <a:endParaRPr lang="zh-CN" altLang="en-US" sz="1400" dirty="0">
              <a:latin typeface="微软雅黑" panose="020B0503020204020204" charset="-122"/>
              <a:ea typeface="微软雅黑" panose="020B0503020204020204" charset="-122"/>
              <a:cs typeface="华文中宋" panose="02010600040101010101" charset="-122"/>
              <a:sym typeface="+mn-ea"/>
            </a:endParaRPr>
          </a:p>
          <a:p>
            <a:pPr algn="l">
              <a:lnSpc>
                <a:spcPct val="140000"/>
              </a:lnSpc>
              <a:spcBef>
                <a:spcPts val="0"/>
              </a:spcBef>
              <a:buClrTx/>
              <a:buSzTx/>
              <a:buFont typeface="Wingdings" panose="05000000000000000000" charset="0"/>
              <a:buNone/>
            </a:pPr>
            <a:endParaRPr lang="zh-CN" altLang="en-US" sz="1400" dirty="0">
              <a:latin typeface="微软雅黑" panose="020B0503020204020204" charset="-122"/>
              <a:ea typeface="微软雅黑" panose="020B0503020204020204" charset="-122"/>
              <a:cs typeface="华文中宋" panose="02010600040101010101" charset="-122"/>
              <a:sym typeface="+mn-ea"/>
            </a:endParaRPr>
          </a:p>
          <a:p>
            <a:pPr algn="l">
              <a:lnSpc>
                <a:spcPct val="140000"/>
              </a:lnSpc>
              <a:spcBef>
                <a:spcPts val="0"/>
              </a:spcBef>
              <a:buClrTx/>
              <a:buSzTx/>
              <a:buFont typeface="Wingdings" panose="05000000000000000000" charset="0"/>
              <a:buNone/>
            </a:pPr>
            <a:endParaRPr lang="zh-CN" altLang="en-US" sz="1400" dirty="0">
              <a:latin typeface="微软雅黑" panose="020B0503020204020204" charset="-122"/>
              <a:ea typeface="微软雅黑" panose="020B0503020204020204" charset="-122"/>
              <a:cs typeface="华文中宋" panose="02010600040101010101" charset="-122"/>
              <a:sym typeface="+mn-ea"/>
            </a:endParaRPr>
          </a:p>
          <a:p>
            <a:pPr algn="l">
              <a:lnSpc>
                <a:spcPct val="140000"/>
              </a:lnSpc>
              <a:spcBef>
                <a:spcPts val="0"/>
              </a:spcBef>
              <a:buClrTx/>
              <a:buSzTx/>
              <a:buFont typeface="Wingdings" panose="05000000000000000000" charset="0"/>
              <a:buNone/>
            </a:pP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华文中宋" panose="02010600040101010101" charset="-122"/>
                <a:sym typeface="+mn-ea"/>
              </a:rPr>
              <a:t>仓位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华文中宋" panose="02010600040101010101" charset="-122"/>
                <a:sym typeface="+mn-ea"/>
              </a:rPr>
              <a:t>设置</a:t>
            </a:r>
            <a:endParaRPr lang="zh-CN" altLang="en-US" sz="1400" dirty="0">
              <a:latin typeface="微软雅黑" panose="020B0503020204020204" charset="-122"/>
              <a:ea typeface="微软雅黑" panose="020B0503020204020204" charset="-122"/>
              <a:cs typeface="华文中宋" panose="02010600040101010101" charset="-122"/>
              <a:sym typeface="+mn-ea"/>
            </a:endParaRPr>
          </a:p>
          <a:p>
            <a:pPr algn="l">
              <a:lnSpc>
                <a:spcPct val="140000"/>
              </a:lnSpc>
              <a:spcBef>
                <a:spcPts val="0"/>
              </a:spcBef>
              <a:buClrTx/>
              <a:buSzTx/>
              <a:buFont typeface="Wingdings" panose="05000000000000000000" charset="0"/>
              <a:buNone/>
            </a:pPr>
            <a:r>
              <a:rPr lang="zh-CN" altLang="en-US" sz="1400" b="0" dirty="0">
                <a:latin typeface="微软雅黑" panose="020B0503020204020204" charset="-122"/>
                <a:ea typeface="微软雅黑" panose="020B0503020204020204" charset="-122"/>
                <a:cs typeface="华文中宋" panose="02010600040101010101" charset="-122"/>
                <a:sym typeface="+mn-ea"/>
              </a:rPr>
              <a:t>1.单边下跌行情:整体仓位较低（比如：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华文中宋" panose="02010600040101010101" charset="-122"/>
                <a:sym typeface="+mn-ea"/>
              </a:rPr>
              <a:t>0-30%</a:t>
            </a:r>
            <a:r>
              <a:rPr lang="zh-CN" altLang="en-US" sz="1400" b="0" dirty="0">
                <a:latin typeface="微软雅黑" panose="020B0503020204020204" charset="-122"/>
                <a:ea typeface="微软雅黑" panose="020B0503020204020204" charset="-122"/>
                <a:cs typeface="华文中宋" panose="02010600040101010101" charset="-122"/>
                <a:sym typeface="+mn-ea"/>
              </a:rPr>
              <a:t>）；</a:t>
            </a:r>
            <a:endParaRPr lang="zh-CN" altLang="en-US" sz="1400" b="0" dirty="0">
              <a:latin typeface="微软雅黑" panose="020B0503020204020204" charset="-122"/>
              <a:ea typeface="微软雅黑" panose="020B0503020204020204" charset="-122"/>
              <a:cs typeface="华文中宋" panose="02010600040101010101" charset="-122"/>
              <a:sym typeface="+mn-ea"/>
            </a:endParaRPr>
          </a:p>
          <a:p>
            <a:pPr algn="l">
              <a:lnSpc>
                <a:spcPct val="140000"/>
              </a:lnSpc>
              <a:spcBef>
                <a:spcPts val="0"/>
              </a:spcBef>
              <a:buClrTx/>
              <a:buSzTx/>
              <a:buFont typeface="Wingdings" panose="05000000000000000000" charset="0"/>
              <a:buNone/>
            </a:pPr>
            <a:endParaRPr lang="zh-CN" altLang="en-US" sz="1400" b="0" dirty="0">
              <a:latin typeface="微软雅黑" panose="020B0503020204020204" charset="-122"/>
              <a:ea typeface="微软雅黑" panose="020B0503020204020204" charset="-122"/>
              <a:cs typeface="华文中宋" panose="02010600040101010101" charset="-122"/>
              <a:sym typeface="+mn-ea"/>
            </a:endParaRPr>
          </a:p>
          <a:p>
            <a:pPr algn="l">
              <a:lnSpc>
                <a:spcPct val="140000"/>
              </a:lnSpc>
              <a:spcBef>
                <a:spcPts val="0"/>
              </a:spcBef>
              <a:buClrTx/>
              <a:buSzTx/>
              <a:buFont typeface="Wingdings" panose="05000000000000000000" charset="0"/>
              <a:buNone/>
            </a:pPr>
            <a:r>
              <a:rPr lang="zh-CN" altLang="en-US" sz="1400" b="0" dirty="0">
                <a:latin typeface="微软雅黑" panose="020B0503020204020204" charset="-122"/>
                <a:ea typeface="微软雅黑" panose="020B0503020204020204" charset="-122"/>
                <a:cs typeface="华文中宋" panose="02010600040101010101" charset="-122"/>
                <a:sym typeface="+mn-ea"/>
              </a:rPr>
              <a:t>2.横盘震荡行情:整体仓位中等（比如：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华文中宋" panose="02010600040101010101" charset="-122"/>
                <a:sym typeface="+mn-ea"/>
              </a:rPr>
              <a:t>30-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华文中宋" panose="02010600040101010101" charset="-122"/>
                <a:sym typeface="+mn-ea"/>
              </a:rPr>
              <a:t>7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华文中宋" panose="02010600040101010101" charset="-122"/>
                <a:sym typeface="+mn-ea"/>
              </a:rPr>
              <a:t>0%</a:t>
            </a:r>
            <a:r>
              <a:rPr lang="zh-CN" altLang="en-US" sz="1400" b="0" dirty="0">
                <a:latin typeface="微软雅黑" panose="020B0503020204020204" charset="-122"/>
                <a:ea typeface="微软雅黑" panose="020B0503020204020204" charset="-122"/>
                <a:cs typeface="华文中宋" panose="02010600040101010101" charset="-122"/>
                <a:sym typeface="+mn-ea"/>
              </a:rPr>
              <a:t>）；</a:t>
            </a:r>
            <a:endParaRPr lang="zh-CN" altLang="en-US" sz="1400" b="0" dirty="0">
              <a:latin typeface="微软雅黑" panose="020B0503020204020204" charset="-122"/>
              <a:ea typeface="微软雅黑" panose="020B0503020204020204" charset="-122"/>
              <a:cs typeface="华文中宋" panose="02010600040101010101" charset="-122"/>
              <a:sym typeface="+mn-ea"/>
            </a:endParaRPr>
          </a:p>
          <a:p>
            <a:pPr algn="l">
              <a:lnSpc>
                <a:spcPct val="140000"/>
              </a:lnSpc>
              <a:spcBef>
                <a:spcPts val="0"/>
              </a:spcBef>
              <a:buClrTx/>
              <a:buSzTx/>
              <a:buFont typeface="Wingdings" panose="05000000000000000000" charset="0"/>
              <a:buNone/>
            </a:pPr>
            <a:endParaRPr lang="zh-CN" altLang="en-US" sz="1400" b="0" dirty="0">
              <a:latin typeface="微软雅黑" panose="020B0503020204020204" charset="-122"/>
              <a:ea typeface="微软雅黑" panose="020B0503020204020204" charset="-122"/>
              <a:cs typeface="华文中宋" panose="02010600040101010101" charset="-122"/>
              <a:sym typeface="+mn-ea"/>
            </a:endParaRPr>
          </a:p>
          <a:p>
            <a:pPr algn="l">
              <a:lnSpc>
                <a:spcPct val="140000"/>
              </a:lnSpc>
              <a:spcBef>
                <a:spcPts val="0"/>
              </a:spcBef>
              <a:buClrTx/>
              <a:buSzTx/>
              <a:buFont typeface="Wingdings" panose="05000000000000000000" charset="0"/>
              <a:buNone/>
            </a:pPr>
            <a:r>
              <a:rPr lang="zh-CN" altLang="en-US" sz="1400" b="0" dirty="0">
                <a:latin typeface="微软雅黑" panose="020B0503020204020204" charset="-122"/>
                <a:ea typeface="微软雅黑" panose="020B0503020204020204" charset="-122"/>
                <a:cs typeface="华文中宋" panose="02010600040101010101" charset="-122"/>
                <a:sym typeface="+mn-ea"/>
              </a:rPr>
              <a:t>3.单边上行行情:整体仓位较高（比如：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华文中宋" panose="02010600040101010101" charset="-122"/>
                <a:sym typeface="+mn-ea"/>
              </a:rPr>
              <a:t>7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华文中宋" panose="02010600040101010101" charset="-122"/>
                <a:sym typeface="+mn-ea"/>
              </a:rPr>
              <a:t>0-100%</a:t>
            </a:r>
            <a:r>
              <a:rPr lang="zh-CN" altLang="en-US" sz="1400" b="0" dirty="0">
                <a:latin typeface="微软雅黑" panose="020B0503020204020204" charset="-122"/>
                <a:ea typeface="微软雅黑" panose="020B0503020204020204" charset="-122"/>
                <a:cs typeface="华文中宋" panose="02010600040101010101" charset="-122"/>
                <a:sym typeface="+mn-ea"/>
              </a:rPr>
              <a:t>）</a:t>
            </a:r>
            <a:endParaRPr lang="zh-CN" altLang="en-US" sz="1400" b="0" dirty="0">
              <a:latin typeface="微软雅黑" panose="020B0503020204020204" charset="-122"/>
              <a:ea typeface="微软雅黑" panose="020B0503020204020204" charset="-122"/>
              <a:cs typeface="华文中宋" panose="02010600040101010101" charset="-122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1815" y="981075"/>
            <a:ext cx="4605655" cy="288798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585" y="4725035"/>
            <a:ext cx="4540250" cy="1825625"/>
          </a:xfrm>
          <a:prstGeom prst="rect">
            <a:avLst/>
          </a:prstGeom>
        </p:spPr>
      </p:pic>
      <p:sp>
        <p:nvSpPr>
          <p:cNvPr id="7" name="文本框 6"/>
          <p:cNvSpPr txBox="1"/>
          <p:nvPr userDrawn="1"/>
        </p:nvSpPr>
        <p:spPr>
          <a:xfrm>
            <a:off x="1226634" y="6418146"/>
            <a:ext cx="9658195" cy="546490"/>
          </a:xfrm>
          <a:prstGeom prst="rect">
            <a:avLst/>
          </a:prstGeom>
          <a:solidFill>
            <a:srgbClr val="FFC000">
              <a:alpha val="100000"/>
            </a:srgbClr>
          </a:solidFill>
        </p:spPr>
        <p:txBody>
          <a:bodyPr wrap="square" rtlCol="0">
            <a:noAutofit/>
          </a:bodyPr>
          <a:p>
            <a:r>
              <a:rPr lang="zh-CN" altLang="en-US" sz="1000">
                <a:solidFill>
                  <a:srgbClr val="FF0000"/>
                </a:solidFill>
              </a:rPr>
              <a:t>上述内容仅供投资者学习交流，不构成投资建议，策略方法基于过往行情分析和特定配置理念，具有一定的局限性，并不能确保您获得盈利或本金不受损失，投资者不应单纯依靠此理论取代自身独立判断，请您务必结合自身的投资经历、风险承受能力及资产配置需要审慎做出投资决策。市场有风险，投资需谨慎。仓位设置仅作为举例，不涉及投资建议。</a:t>
            </a:r>
            <a:endParaRPr lang="zh-CN" altLang="en-US" sz="1000">
              <a:solidFill>
                <a:srgbClr val="FF0000"/>
              </a:solidFill>
            </a:endParaRPr>
          </a:p>
        </p:txBody>
      </p:sp>
      <p:sp>
        <p:nvSpPr>
          <p:cNvPr id="6" name="文本框 5"/>
          <p:cNvSpPr txBox="1"/>
          <p:nvPr userDrawn="1"/>
        </p:nvSpPr>
        <p:spPr>
          <a:xfrm>
            <a:off x="9876721" y="5857078"/>
            <a:ext cx="1784261" cy="369570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zh-CN" altLang="en-US">
                <a:solidFill>
                  <a:srgbClr val="FF0000"/>
                </a:solidFill>
              </a:rPr>
              <a:t>风险揭示已补充</a:t>
            </a:r>
            <a:endParaRPr lang="zh-CN" altLang="en-US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08660" y="168275"/>
            <a:ext cx="69380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24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热点风口选择逻辑</a:t>
            </a:r>
            <a:endParaRPr lang="zh-CN" altLang="en-US" sz="2400" b="0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</p:txBody>
      </p:sp>
      <p:sp>
        <p:nvSpPr>
          <p:cNvPr id="5" name="等腰三角形 4"/>
          <p:cNvSpPr/>
          <p:nvPr/>
        </p:nvSpPr>
        <p:spPr>
          <a:xfrm rot="16200000" flipH="1" flipV="1">
            <a:off x="300226" y="258286"/>
            <a:ext cx="352693" cy="280018"/>
          </a:xfrm>
          <a:prstGeom prst="triangle">
            <a:avLst/>
          </a:prstGeom>
          <a:gradFill>
            <a:gsLst>
              <a:gs pos="0">
                <a:srgbClr val="E30000"/>
              </a:gs>
              <a:gs pos="100000">
                <a:srgbClr val="760303"/>
              </a:gs>
            </a:gsLst>
            <a:lin scaled="0"/>
          </a:gradFill>
          <a:ln w="285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808345" y="764540"/>
            <a:ext cx="5780405" cy="581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华文中宋" panose="02010600040101010101" charset="-122"/>
              </a:rPr>
              <a:t>1.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华文中宋" panose="02010600040101010101" charset="-122"/>
              </a:rPr>
              <a:t>行业景气度</a:t>
            </a:r>
            <a:r>
              <a:rPr lang="zh-CN" altLang="en-US" sz="1400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华文中宋" panose="02010600040101010101" charset="-122"/>
              </a:rPr>
              <a:t>：</a:t>
            </a:r>
            <a:r>
              <a:rPr lang="zh-CN" altLang="en-US" sz="1400" b="0" dirty="0">
                <a:latin typeface="微软雅黑" panose="020B0503020204020204" charset="-122"/>
                <a:ea typeface="微软雅黑" panose="020B0503020204020204" charset="-122"/>
                <a:cs typeface="华文中宋" panose="02010600040101010101" charset="-122"/>
              </a:rPr>
              <a:t>周期行业关注整体处于什么阶段。如半导体是否处于底部或者底部反转周期，如果是那么说明就是机会打</a:t>
            </a:r>
            <a:r>
              <a:rPr lang="en-US" altLang="zh-CN" sz="1400" b="0" dirty="0">
                <a:latin typeface="微软雅黑" panose="020B0503020204020204" charset="-122"/>
                <a:ea typeface="微软雅黑" panose="020B0503020204020204" charset="-122"/>
                <a:cs typeface="华文中宋" panose="02010600040101010101" charset="-122"/>
              </a:rPr>
              <a:t>1</a:t>
            </a:r>
            <a:r>
              <a:rPr lang="zh-CN" altLang="en-US" sz="1400" b="0" dirty="0">
                <a:latin typeface="微软雅黑" panose="020B0503020204020204" charset="-122"/>
                <a:ea typeface="微软雅黑" panose="020B0503020204020204" charset="-122"/>
                <a:cs typeface="华文中宋" panose="02010600040101010101" charset="-122"/>
              </a:rPr>
              <a:t>分，比如光伏依然处于行业去库存阶段那么就不去关注打</a:t>
            </a:r>
            <a:r>
              <a:rPr lang="en-US" altLang="zh-CN" sz="1400" b="0" dirty="0">
                <a:latin typeface="微软雅黑" panose="020B0503020204020204" charset="-122"/>
                <a:ea typeface="微软雅黑" panose="020B0503020204020204" charset="-122"/>
                <a:cs typeface="华文中宋" panose="02010600040101010101" charset="-122"/>
              </a:rPr>
              <a:t>0</a:t>
            </a:r>
            <a:r>
              <a:rPr lang="zh-CN" altLang="en-US" sz="1400" b="0" dirty="0">
                <a:latin typeface="微软雅黑" panose="020B0503020204020204" charset="-122"/>
                <a:ea typeface="微软雅黑" panose="020B0503020204020204" charset="-122"/>
                <a:cs typeface="华文中宋" panose="02010600040101010101" charset="-122"/>
              </a:rPr>
              <a:t>分。</a:t>
            </a:r>
            <a:endParaRPr lang="zh-CN" altLang="en-US" sz="1400" b="0" dirty="0">
              <a:latin typeface="微软雅黑" panose="020B0503020204020204" charset="-122"/>
              <a:ea typeface="微软雅黑" panose="020B0503020204020204" charset="-122"/>
              <a:cs typeface="华文中宋" panose="02010600040101010101" charset="-122"/>
            </a:endParaRPr>
          </a:p>
          <a:p>
            <a:pPr>
              <a:lnSpc>
                <a:spcPct val="140000"/>
              </a:lnSpc>
            </a:pPr>
            <a:r>
              <a:rPr lang="zh-CN" altLang="en-US" sz="1400" b="0" dirty="0">
                <a:latin typeface="微软雅黑" panose="020B0503020204020204" charset="-122"/>
                <a:ea typeface="微软雅黑" panose="020B0503020204020204" charset="-122"/>
                <a:cs typeface="华文中宋" panose="02010600040101010101" charset="-122"/>
              </a:rPr>
              <a:t>其他行业关注整体处于成长期还是成熟期，只选取成长期和成熟期的产业。比如机器人我们判断属于带典型的成长期产业就是备选方向打</a:t>
            </a:r>
            <a:r>
              <a:rPr lang="en-US" altLang="zh-CN" sz="1400" b="0" dirty="0">
                <a:latin typeface="微软雅黑" panose="020B0503020204020204" charset="-122"/>
                <a:ea typeface="微软雅黑" panose="020B0503020204020204" charset="-122"/>
                <a:cs typeface="华文中宋" panose="02010600040101010101" charset="-122"/>
              </a:rPr>
              <a:t>1</a:t>
            </a:r>
            <a:r>
              <a:rPr lang="zh-CN" altLang="en-US" sz="1400" b="0" dirty="0">
                <a:latin typeface="微软雅黑" panose="020B0503020204020204" charset="-122"/>
                <a:ea typeface="微软雅黑" panose="020B0503020204020204" charset="-122"/>
                <a:cs typeface="华文中宋" panose="02010600040101010101" charset="-122"/>
              </a:rPr>
              <a:t>分，而钢铁房地产等属于衰退期的产业就不去关注打</a:t>
            </a:r>
            <a:r>
              <a:rPr lang="en-US" altLang="zh-CN" sz="1400" b="0" dirty="0">
                <a:latin typeface="微软雅黑" panose="020B0503020204020204" charset="-122"/>
                <a:ea typeface="微软雅黑" panose="020B0503020204020204" charset="-122"/>
                <a:cs typeface="华文中宋" panose="02010600040101010101" charset="-122"/>
              </a:rPr>
              <a:t>0</a:t>
            </a:r>
            <a:r>
              <a:rPr lang="zh-CN" altLang="en-US" sz="1400" b="0" dirty="0">
                <a:latin typeface="微软雅黑" panose="020B0503020204020204" charset="-122"/>
                <a:ea typeface="微软雅黑" panose="020B0503020204020204" charset="-122"/>
                <a:cs typeface="华文中宋" panose="02010600040101010101" charset="-122"/>
              </a:rPr>
              <a:t>分。</a:t>
            </a:r>
            <a:endParaRPr lang="zh-CN" altLang="en-US" sz="1400" b="0" dirty="0">
              <a:latin typeface="微软雅黑" panose="020B0503020204020204" charset="-122"/>
              <a:ea typeface="微软雅黑" panose="020B0503020204020204" charset="-122"/>
              <a:cs typeface="华文中宋" panose="02010600040101010101" charset="-122"/>
            </a:endParaRPr>
          </a:p>
          <a:p>
            <a:pPr>
              <a:lnSpc>
                <a:spcPct val="140000"/>
              </a:lnSpc>
            </a:pPr>
            <a:endParaRPr lang="zh-CN" altLang="en-US" sz="1400" b="0" dirty="0">
              <a:latin typeface="微软雅黑" panose="020B0503020204020204" charset="-122"/>
              <a:ea typeface="微软雅黑" panose="020B0503020204020204" charset="-122"/>
              <a:cs typeface="华文中宋" panose="02010600040101010101" charset="-122"/>
            </a:endParaRPr>
          </a:p>
          <a:p>
            <a:pPr algn="l">
              <a:lnSpc>
                <a:spcPct val="140000"/>
              </a:lnSpc>
              <a:spcBef>
                <a:spcPts val="0"/>
              </a:spcBef>
              <a:buClrTx/>
              <a:buSzTx/>
              <a:buFont typeface="Wingdings" panose="05000000000000000000" charset="0"/>
              <a:buNone/>
            </a:pP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华文中宋" panose="02010600040101010101" charset="-122"/>
              </a:rPr>
              <a:t>2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华文中宋" panose="02010600040101010101" charset="-122"/>
              </a:rPr>
              <a:t>.资金面</a:t>
            </a:r>
            <a:r>
              <a:rPr lang="zh-CN" altLang="en-US" sz="1400" b="0" dirty="0">
                <a:latin typeface="微软雅黑" panose="020B0503020204020204" charset="-122"/>
                <a:ea typeface="微软雅黑" panose="020B0503020204020204" charset="-122"/>
                <a:cs typeface="华文中宋" panose="02010600040101010101" charset="-122"/>
              </a:rPr>
              <a:t>：</a:t>
            </a:r>
            <a:r>
              <a:rPr lang="zh-CN" altLang="en-US" sz="1400" b="0" dirty="0">
                <a:latin typeface="微软雅黑" panose="020B0503020204020204" charset="-122"/>
                <a:ea typeface="微软雅黑" panose="020B0503020204020204" charset="-122"/>
                <a:cs typeface="华文中宋" panose="02010600040101010101" charset="-122"/>
                <a:sym typeface="+mn-ea"/>
              </a:rPr>
              <a:t>关注ETF申赎情况（日度）、公募基金仓位变动（季度）等指标</a:t>
            </a:r>
            <a:r>
              <a:rPr lang="zh-CN" altLang="en-US" sz="1400" b="0" dirty="0">
                <a:latin typeface="微软雅黑" panose="020B0503020204020204" charset="-122"/>
                <a:ea typeface="微软雅黑" panose="020B0503020204020204" charset="-122"/>
                <a:cs typeface="华文中宋" panose="02010600040101010101" charset="-122"/>
              </a:rPr>
              <a:t>。</a:t>
            </a:r>
            <a:r>
              <a:rPr lang="zh-CN" altLang="en-US" sz="1400" b="0" dirty="0">
                <a:latin typeface="微软雅黑" panose="020B0503020204020204" charset="-122"/>
                <a:ea typeface="微软雅黑" panose="020B0503020204020204" charset="-122"/>
                <a:cs typeface="华文中宋" panose="02010600040101010101" charset="-122"/>
                <a:sym typeface="+mn-ea"/>
              </a:rPr>
              <a:t>打分标准：股票类ETF净申购金额（月度）为正，公募基金仓位（季度）未出现下降打1分；股票类ETF净申购金额（月度）为负，公募基金仓位出现明显下降，打0。</a:t>
            </a:r>
            <a:endParaRPr lang="zh-CN" altLang="en-US" sz="1400" b="0" dirty="0">
              <a:latin typeface="微软雅黑" panose="020B0503020204020204" charset="-122"/>
              <a:ea typeface="微软雅黑" panose="020B0503020204020204" charset="-122"/>
              <a:cs typeface="华文中宋" panose="02010600040101010101" charset="-122"/>
              <a:sym typeface="+mn-ea"/>
            </a:endParaRPr>
          </a:p>
          <a:p>
            <a:pPr algn="l">
              <a:lnSpc>
                <a:spcPct val="140000"/>
              </a:lnSpc>
              <a:spcBef>
                <a:spcPts val="0"/>
              </a:spcBef>
              <a:buClrTx/>
              <a:buSzTx/>
              <a:buFont typeface="Wingdings" panose="05000000000000000000" charset="0"/>
              <a:buNone/>
            </a:pPr>
            <a:endParaRPr lang="zh-CN" altLang="en-US" sz="1400" b="0" dirty="0">
              <a:latin typeface="微软雅黑" panose="020B0503020204020204" charset="-122"/>
              <a:ea typeface="微软雅黑" panose="020B0503020204020204" charset="-122"/>
              <a:cs typeface="华文中宋" panose="02010600040101010101" charset="-122"/>
              <a:sym typeface="+mn-ea"/>
            </a:endParaRPr>
          </a:p>
          <a:p>
            <a:pPr algn="l">
              <a:lnSpc>
                <a:spcPct val="140000"/>
              </a:lnSpc>
              <a:spcBef>
                <a:spcPts val="0"/>
              </a:spcBef>
              <a:buClrTx/>
              <a:buSzTx/>
              <a:buFont typeface="Wingdings" panose="05000000000000000000" charset="0"/>
              <a:buNone/>
            </a:pP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华文中宋" panose="02010600040101010101" charset="-122"/>
                <a:sym typeface="+mn-ea"/>
              </a:rPr>
              <a:t>3.政策面</a:t>
            </a:r>
            <a:r>
              <a:rPr lang="zh-CN" altLang="en-US" sz="1400" b="0" dirty="0">
                <a:latin typeface="微软雅黑" panose="020B0503020204020204" charset="-122"/>
                <a:ea typeface="微软雅黑" panose="020B0503020204020204" charset="-122"/>
                <a:cs typeface="华文中宋" panose="02010600040101010101" charset="-122"/>
                <a:sym typeface="+mn-ea"/>
              </a:rPr>
              <a:t>：关注政策驱动行业发展、财政支持力度等，比如半导体人工智能支持发展的核心政策等。</a:t>
            </a:r>
            <a:endParaRPr lang="zh-CN" altLang="en-US" sz="1400" b="0" dirty="0">
              <a:latin typeface="微软雅黑" panose="020B0503020204020204" charset="-122"/>
              <a:ea typeface="微软雅黑" panose="020B0503020204020204" charset="-122"/>
              <a:cs typeface="华文中宋" panose="02010600040101010101" charset="-122"/>
              <a:sym typeface="+mn-ea"/>
            </a:endParaRPr>
          </a:p>
          <a:p>
            <a:pPr algn="l">
              <a:lnSpc>
                <a:spcPct val="140000"/>
              </a:lnSpc>
              <a:spcBef>
                <a:spcPts val="0"/>
              </a:spcBef>
              <a:buClrTx/>
              <a:buSzTx/>
              <a:buFont typeface="Wingdings" panose="05000000000000000000" charset="0"/>
              <a:buNone/>
            </a:pPr>
            <a:r>
              <a:rPr lang="zh-CN" altLang="en-US" sz="1400" b="0" dirty="0">
                <a:latin typeface="微软雅黑" panose="020B0503020204020204" charset="-122"/>
                <a:ea typeface="微软雅黑" panose="020B0503020204020204" charset="-122"/>
                <a:cs typeface="华文中宋" panose="02010600040101010101" charset="-122"/>
                <a:sym typeface="+mn-ea"/>
              </a:rPr>
              <a:t>打分标准：政策支持&amp;有催化，打1分；负面，打0分</a:t>
            </a:r>
            <a:endParaRPr lang="zh-CN" altLang="en-US" sz="1400" b="0" dirty="0">
              <a:latin typeface="微软雅黑" panose="020B0503020204020204" charset="-122"/>
              <a:ea typeface="微软雅黑" panose="020B0503020204020204" charset="-122"/>
              <a:cs typeface="华文中宋" panose="02010600040101010101" charset="-122"/>
              <a:sym typeface="+mn-ea"/>
            </a:endParaRPr>
          </a:p>
          <a:p>
            <a:pPr algn="l">
              <a:lnSpc>
                <a:spcPct val="140000"/>
              </a:lnSpc>
              <a:spcBef>
                <a:spcPts val="0"/>
              </a:spcBef>
              <a:buClrTx/>
              <a:buSzTx/>
              <a:buFont typeface="Wingdings" panose="05000000000000000000" charset="0"/>
              <a:buNone/>
            </a:pPr>
            <a:endParaRPr lang="zh-CN" altLang="en-US" sz="1400" b="0" dirty="0">
              <a:latin typeface="微软雅黑" panose="020B0503020204020204" charset="-122"/>
              <a:ea typeface="微软雅黑" panose="020B0503020204020204" charset="-122"/>
              <a:cs typeface="华文中宋" panose="02010600040101010101" charset="-122"/>
            </a:endParaRPr>
          </a:p>
          <a:p>
            <a:pPr algn="l">
              <a:lnSpc>
                <a:spcPct val="140000"/>
              </a:lnSpc>
              <a:spcBef>
                <a:spcPts val="0"/>
              </a:spcBef>
              <a:buClrTx/>
              <a:buSzTx/>
              <a:buFont typeface="Wingdings" panose="05000000000000000000" charset="0"/>
              <a:buNone/>
            </a:pP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华文中宋" panose="02010600040101010101" charset="-122"/>
                <a:sym typeface="+mn-ea"/>
              </a:rPr>
              <a:t>4.技术面</a:t>
            </a:r>
            <a:r>
              <a:rPr lang="zh-CN" altLang="en-US" sz="1400" b="0" dirty="0">
                <a:latin typeface="微软雅黑" panose="020B0503020204020204" charset="-122"/>
                <a:ea typeface="微软雅黑" panose="020B0503020204020204" charset="-122"/>
                <a:cs typeface="华文中宋" panose="02010600040101010101" charset="-122"/>
                <a:sym typeface="+mn-ea"/>
              </a:rPr>
              <a:t>：三个买入信号(意外大跌抄底信号，比如科创芯片4月7号；1020起爆点信号比如7月11号；龙回头买入信号比如9月4号)，符合条件打1分，不符合条件打0分</a:t>
            </a:r>
            <a:endParaRPr lang="zh-CN" altLang="en-US" sz="1400" b="0" dirty="0">
              <a:latin typeface="微软雅黑" panose="020B0503020204020204" charset="-122"/>
              <a:ea typeface="微软雅黑" panose="020B0503020204020204" charset="-122"/>
              <a:cs typeface="华文中宋" panose="02010600040101010101" charset="-122"/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3050" y="764540"/>
            <a:ext cx="5372735" cy="291020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620" y="4220845"/>
            <a:ext cx="3617595" cy="2249170"/>
          </a:xfrm>
          <a:prstGeom prst="rect">
            <a:avLst/>
          </a:prstGeom>
        </p:spPr>
      </p:pic>
      <p:sp>
        <p:nvSpPr>
          <p:cNvPr id="7" name="文本框 6"/>
          <p:cNvSpPr txBox="1"/>
          <p:nvPr userDrawn="1"/>
        </p:nvSpPr>
        <p:spPr>
          <a:xfrm>
            <a:off x="1226634" y="6418146"/>
            <a:ext cx="9658195" cy="360401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zh-CN" altLang="en-US" sz="1000">
                <a:solidFill>
                  <a:srgbClr val="FF0000"/>
                </a:solidFill>
              </a:rPr>
              <a:t>上述内容仅供投资者学习交流，不构成投资建议，策略方法基于过往行情分析和特定配置理念，具有一定的局限性，并不能确保您获得盈利或本金不受损失，投资者不应单纯依靠此理论取代自身独立判断，请您务必结合自身的投资经历、风险承受能力及资产配置需要审慎做出投资决策。市场有风险，投资需谨慎。</a:t>
            </a:r>
            <a:endParaRPr lang="zh-CN" altLang="en-US" sz="1000">
              <a:solidFill>
                <a:srgbClr val="FF0000"/>
              </a:solidFill>
            </a:endParaRPr>
          </a:p>
        </p:txBody>
      </p:sp>
      <p:sp>
        <p:nvSpPr>
          <p:cNvPr id="2" name="矩形 1"/>
          <p:cNvSpPr/>
          <p:nvPr userDrawn="1"/>
        </p:nvSpPr>
        <p:spPr>
          <a:xfrm>
            <a:off x="2913070" y="5607995"/>
            <a:ext cx="1282390" cy="371707"/>
          </a:xfrm>
          <a:prstGeom prst="rect">
            <a:avLst/>
          </a:prstGeom>
          <a:solidFill>
            <a:srgbClr val="E2E6ED">
              <a:alpha val="100000"/>
            </a:srgbClr>
          </a:solidFill>
          <a:ln w="12700" cap="flat" cmpd="sng" algn="ctr">
            <a:solidFill>
              <a:srgbClr val="AEB5C0">
                <a:alpha val="100000"/>
              </a:srgbClr>
            </a:solidFill>
            <a:prstDash val="solid"/>
            <a:miter lim="800000"/>
          </a:ln>
        </p:spPr>
        <p:txBody>
          <a:bodyPr wrap="square" lIns="45718" tIns="45719" rIns="45718" bIns="45719" rtlCol="0" anchor="ctr">
            <a:noAutofit/>
          </a:bodyPr>
          <a:p>
            <a:pPr algn="ctr"/>
            <a:r>
              <a:rPr lang="zh-CN" altLang="en-US">
                <a:solidFill>
                  <a:srgbClr val="000000"/>
                </a:solidFill>
              </a:rPr>
              <a:t>谨慎关注</a:t>
            </a:r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文本框 6"/>
          <p:cNvSpPr txBox="1"/>
          <p:nvPr/>
        </p:nvSpPr>
        <p:spPr>
          <a:xfrm>
            <a:off x="419100" y="5978525"/>
            <a:ext cx="1108519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 sz="1400">
              <a:solidFill>
                <a:srgbClr val="FF0000"/>
              </a:solidFill>
              <a:sym typeface="+mn-ea"/>
            </a:endParaRPr>
          </a:p>
          <a:p>
            <a:r>
              <a:rPr lang="zh-CN" altLang="en-US" sz="1400">
                <a:solidFill>
                  <a:srgbClr val="FF0000"/>
                </a:solidFill>
                <a:sym typeface="+mn-ea"/>
              </a:rPr>
              <a:t>方法论分析仅供参考，分析有自身的局限性或不足，不能保证100%准确。仅供投资者学习交流，投资者不能简单按照此理论</a:t>
            </a:r>
            <a:endParaRPr lang="zh-CN" altLang="en-US" sz="1400">
              <a:solidFill>
                <a:srgbClr val="FF0000"/>
              </a:solidFill>
              <a:sym typeface="+mn-ea"/>
            </a:endParaRPr>
          </a:p>
          <a:p>
            <a:r>
              <a:rPr lang="zh-CN" altLang="en-US" sz="1400">
                <a:solidFill>
                  <a:srgbClr val="FF0000"/>
                </a:solidFill>
                <a:sym typeface="+mn-ea"/>
              </a:rPr>
              <a:t>作出判断，应结合具体市场行情综合分析，自行作出决策，风险自担。</a:t>
            </a:r>
            <a:r>
              <a:rPr lang="zh-CN" altLang="en-US" sz="1400">
                <a:solidFill>
                  <a:srgbClr val="FF0000"/>
                </a:solidFill>
                <a:sym typeface="+mn-ea"/>
              </a:rPr>
              <a:t>公司信息仅作为示例，不构成任何投资建议。</a:t>
            </a:r>
            <a:endParaRPr lang="zh-CN" altLang="en-US" sz="1400">
              <a:solidFill>
                <a:srgbClr val="FF0000"/>
              </a:solidFill>
            </a:endParaRPr>
          </a:p>
          <a:p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endParaRPr lang="zh-CN" altLang="en-US" sz="14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99293" y="100987"/>
            <a:ext cx="8732520" cy="594868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6284558" y="5606827"/>
            <a:ext cx="1282390" cy="371707"/>
          </a:xfrm>
          <a:prstGeom prst="rect">
            <a:avLst/>
          </a:prstGeom>
          <a:solidFill>
            <a:srgbClr val="E2E6ED">
              <a:alpha val="100000"/>
            </a:srgbClr>
          </a:solidFill>
          <a:ln w="12700" cap="flat" cmpd="sng" algn="ctr">
            <a:solidFill>
              <a:srgbClr val="AEB5C0">
                <a:alpha val="100000"/>
              </a:srgbClr>
            </a:solidFill>
            <a:prstDash val="solid"/>
            <a:miter lim="800000"/>
          </a:ln>
        </p:spPr>
        <p:txBody>
          <a:bodyPr wrap="square" lIns="45718" tIns="45719" rIns="45718" bIns="45719" rtlCol="0" anchor="ctr">
            <a:noAutofit/>
          </a:bodyPr>
          <a:p>
            <a:pPr algn="ctr"/>
            <a:r>
              <a:rPr lang="zh-CN" altLang="en-US">
                <a:solidFill>
                  <a:srgbClr val="000000"/>
                </a:solidFill>
              </a:rPr>
              <a:t>谨慎</a:t>
            </a:r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457" y="248647"/>
            <a:ext cx="10515600" cy="651239"/>
          </a:xfrm>
        </p:spPr>
        <p:txBody>
          <a:bodyPr/>
          <a:lstStyle/>
          <a:p>
            <a:pPr fontAlgn="base">
              <a:lnSpc>
                <a:spcPct val="160000"/>
              </a:lnSpc>
              <a:spcAft>
                <a:spcPts val="600"/>
              </a:spcAft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组合调仓机制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7" name="内容占位符 6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452245" y="956310"/>
            <a:ext cx="9939020" cy="5590540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457" y="248647"/>
            <a:ext cx="10515600" cy="651239"/>
          </a:xfrm>
        </p:spPr>
        <p:txBody>
          <a:bodyPr/>
          <a:lstStyle/>
          <a:p>
            <a:pPr fontAlgn="base">
              <a:lnSpc>
                <a:spcPct val="160000"/>
              </a:lnSpc>
              <a:spcAft>
                <a:spcPts val="600"/>
              </a:spcAft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组合调仓机制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6" name="内容占位符 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579245" y="1062990"/>
            <a:ext cx="9719945" cy="5467985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457" y="248647"/>
            <a:ext cx="10515600" cy="651239"/>
          </a:xfrm>
        </p:spPr>
        <p:txBody>
          <a:bodyPr/>
          <a:lstStyle/>
          <a:p>
            <a:pPr fontAlgn="base">
              <a:lnSpc>
                <a:spcPct val="160000"/>
              </a:lnSpc>
              <a:spcAft>
                <a:spcPts val="600"/>
              </a:spcAft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组合调仓机制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106930" y="1177925"/>
            <a:ext cx="8990965" cy="5057140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457" y="248647"/>
            <a:ext cx="10515600" cy="651239"/>
          </a:xfrm>
        </p:spPr>
        <p:txBody>
          <a:bodyPr/>
          <a:lstStyle/>
          <a:p>
            <a:pPr fontAlgn="base">
              <a:lnSpc>
                <a:spcPct val="160000"/>
              </a:lnSpc>
              <a:spcAft>
                <a:spcPts val="600"/>
              </a:spcAft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组合调仓机制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7" name="内容占位符 6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581785" y="899795"/>
            <a:ext cx="9780905" cy="5502275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457" y="248647"/>
            <a:ext cx="10515600" cy="651239"/>
          </a:xfrm>
        </p:spPr>
        <p:txBody>
          <a:bodyPr/>
          <a:lstStyle/>
          <a:p>
            <a:pPr fontAlgn="base">
              <a:lnSpc>
                <a:spcPct val="160000"/>
              </a:lnSpc>
              <a:spcAft>
                <a:spcPts val="600"/>
              </a:spcAft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组合调仓机制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7" name="内容占位符 6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581785" y="899795"/>
            <a:ext cx="9780905" cy="5502275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7_默认设计模板">
  <a:themeElements>
    <a:clrScheme name="自定义 5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0000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A3B3B"/>
        </a:solidFill>
        <a:ln w="12700">
          <a:miter lim="400000"/>
        </a:ln>
      </a:spPr>
      <a:bodyPr lIns="45718" tIns="45719" rIns="45718" bIns="45719" anchor="ctr"/>
      <a:lstStyle>
        <a:defPPr algn="ctr">
          <a:defRPr>
            <a:solidFill>
              <a:srgbClr val="FFFFFF"/>
            </a:solidFill>
          </a:defRPr>
        </a:defPPr>
      </a:lst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0E5ED">
            <a:alpha val="30000"/>
          </a:srgbClr>
        </a:solidFill>
        <a:ln w="25400" cap="flat">
          <a:noFill/>
          <a:prstDash val="solid"/>
          <a:miter lim="800000"/>
        </a:ln>
      </a:spPr>
      <a:bodyPr rot="0" spcFirstLastPara="1" vertOverflow="overflow" horzOverflow="overflow" vert="horz" wrap="square" lIns="91440" tIns="91440" rIns="91440" bIns="91440" numCol="1" spcCol="38100" rtlCol="0" anchor="ctr">
        <a:noAutofit/>
      </a:bodyPr>
      <a:lstStyle>
        <a:defPPr algn="l" fontAlgn="auto" hangingPunct="0">
          <a:spcBef>
            <a:spcPts val="0"/>
          </a:spcBef>
          <a:spcAft>
            <a:spcPts val="0"/>
          </a:spcAft>
          <a:defRPr baseline="0" dirty="0">
            <a:latin typeface="微软雅黑" panose="020B0503020204020204" charset="-122"/>
            <a:ea typeface="微软雅黑" panose="020B0503020204020204" charset="-122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1425</Words>
  <Application>WPS 演示</Application>
  <PresentationFormat>宽屏</PresentationFormat>
  <Paragraphs>60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9</vt:i4>
      </vt:variant>
    </vt:vector>
  </HeadingPairs>
  <TitlesOfParts>
    <vt:vector size="24" baseType="lpstr">
      <vt:lpstr>Arial</vt:lpstr>
      <vt:lpstr>宋体</vt:lpstr>
      <vt:lpstr>Wingdings</vt:lpstr>
      <vt:lpstr>Calibri Light</vt:lpstr>
      <vt:lpstr>微软雅黑</vt:lpstr>
      <vt:lpstr>等线</vt:lpstr>
      <vt:lpstr>Arial Unicode MS</vt:lpstr>
      <vt:lpstr>等线 Light</vt:lpstr>
      <vt:lpstr>Calibri</vt:lpstr>
      <vt:lpstr>华文楷体</vt:lpstr>
      <vt:lpstr>华文中宋</vt:lpstr>
      <vt:lpstr>Wingdings</vt:lpstr>
      <vt:lpstr>Office 主题</vt:lpstr>
      <vt:lpstr>7_默认设计模板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组合调仓机制</vt:lpstr>
      <vt:lpstr>组合调仓机制</vt:lpstr>
      <vt:lpstr>组合调仓机制</vt:lpstr>
      <vt:lpstr>组合调仓机制</vt:lpstr>
      <vt:lpstr>组合调仓机制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高志强</dc:creator>
  <cp:lastModifiedBy>高志强</cp:lastModifiedBy>
  <cp:revision>19</cp:revision>
  <dcterms:created xsi:type="dcterms:W3CDTF">2025-12-31T05:28:00Z</dcterms:created>
  <dcterms:modified xsi:type="dcterms:W3CDTF">2026-03-11T02:41:36Z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AF2ABAE8B7C848CDBD8C3A2ECFD50F3A</vt:lpwstr>
  </property>
  <property fmtid="{D5CDD505-2E9C-101B-9397-08002B2CF9AE}" pid="3" name="KSOProductBuildVer">
    <vt:lpwstr>2052-11.8.2.11718</vt:lpwstr>
  </property>
</Properties>
</file>